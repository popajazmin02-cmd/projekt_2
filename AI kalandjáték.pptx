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bea3a30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bea3a30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e8aa254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3e8aa254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3e8aa254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3e8aa254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e8aa254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3e8aa254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e8aa2543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3e8aa2543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3e8aa2543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3e8aa2543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3e8aa2543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3e8aa2543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e8aa2543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3e8aa2543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bea3a303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bea3a303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AI kalandjáték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hu" sz="1180"/>
              <a:t>Popa Jázmin</a:t>
            </a:r>
            <a:endParaRPr sz="11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hu" sz="1180"/>
              <a:t>IBH3OV</a:t>
            </a:r>
            <a:endParaRPr sz="11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hu" sz="1180"/>
              <a:t>Témavezető: Laborci Gergely</a:t>
            </a:r>
            <a:endParaRPr sz="11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Mi a játék célja?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7346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000"/>
              <a:buChar char="●"/>
            </a:pPr>
            <a:r>
              <a:rPr lang="hu" sz="2000">
                <a:solidFill>
                  <a:srgbClr val="0D1117"/>
                </a:solidFill>
              </a:rPr>
              <a:t>Személyre szabhatóság</a:t>
            </a:r>
            <a:endParaRPr sz="2000">
              <a:solidFill>
                <a:srgbClr val="0D1117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000"/>
              <a:buChar char="●"/>
            </a:pPr>
            <a:r>
              <a:rPr lang="hu" sz="2000">
                <a:solidFill>
                  <a:srgbClr val="0D1117"/>
                </a:solidFill>
              </a:rPr>
              <a:t>Sokféle </a:t>
            </a:r>
            <a:r>
              <a:rPr lang="hu" sz="2000">
                <a:solidFill>
                  <a:srgbClr val="0D1117"/>
                </a:solidFill>
              </a:rPr>
              <a:t>történetszál</a:t>
            </a:r>
            <a:r>
              <a:rPr lang="hu" sz="2000">
                <a:solidFill>
                  <a:srgbClr val="0D1117"/>
                </a:solidFill>
              </a:rPr>
              <a:t> lehetősége</a:t>
            </a:r>
            <a:endParaRPr sz="2000">
              <a:solidFill>
                <a:srgbClr val="0D1117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000"/>
              <a:buChar char="●"/>
            </a:pPr>
            <a:r>
              <a:rPr lang="hu" sz="2000">
                <a:solidFill>
                  <a:srgbClr val="0D1117"/>
                </a:solidFill>
              </a:rPr>
              <a:t>Nincs korlátozás a játékvilággal és kimenetével kapcsolatban -&gt; kiszámíthatatlanság</a:t>
            </a:r>
            <a:endParaRPr sz="20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686000" y="1796900"/>
            <a:ext cx="75057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Char char="●"/>
            </a:pPr>
            <a:r>
              <a:rPr lang="hu" sz="1850">
                <a:solidFill>
                  <a:srgbClr val="000000"/>
                </a:solidFill>
              </a:rPr>
              <a:t>TypeScript – Backend és frontend - </a:t>
            </a:r>
            <a:r>
              <a:rPr i="1" lang="hu" sz="1850">
                <a:solidFill>
                  <a:srgbClr val="000000"/>
                </a:solidFill>
              </a:rPr>
              <a:t>Típusbiztos</a:t>
            </a:r>
            <a:endParaRPr sz="1850">
              <a:solidFill>
                <a:srgbClr val="000000"/>
              </a:solidFill>
            </a:endParaRPr>
          </a:p>
          <a:p>
            <a:pPr indent="-3460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Char char="●"/>
            </a:pPr>
            <a:r>
              <a:rPr lang="hu" sz="1850">
                <a:solidFill>
                  <a:srgbClr val="000000"/>
                </a:solidFill>
              </a:rPr>
              <a:t>Prisma ORM - </a:t>
            </a:r>
            <a:r>
              <a:rPr i="1" lang="hu" sz="1850">
                <a:solidFill>
                  <a:srgbClr val="000000"/>
                </a:solidFill>
              </a:rPr>
              <a:t>E</a:t>
            </a:r>
            <a:r>
              <a:rPr i="1" lang="hu" sz="1850">
                <a:solidFill>
                  <a:srgbClr val="000000"/>
                </a:solidFill>
              </a:rPr>
              <a:t>gyszerűsíti az SQL kezelést.</a:t>
            </a:r>
            <a:endParaRPr sz="1850">
              <a:solidFill>
                <a:srgbClr val="000000"/>
              </a:solidFill>
            </a:endParaRPr>
          </a:p>
          <a:p>
            <a:pPr indent="-3460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Char char="●"/>
            </a:pPr>
            <a:r>
              <a:rPr lang="hu" sz="1850">
                <a:solidFill>
                  <a:srgbClr val="000000"/>
                </a:solidFill>
              </a:rPr>
              <a:t>MySQ</a:t>
            </a:r>
            <a:r>
              <a:rPr lang="hu" sz="1850">
                <a:solidFill>
                  <a:srgbClr val="000000"/>
                </a:solidFill>
              </a:rPr>
              <a:t>L - </a:t>
            </a:r>
            <a:r>
              <a:rPr i="1" lang="hu" sz="1850">
                <a:solidFill>
                  <a:srgbClr val="000000"/>
                </a:solidFill>
              </a:rPr>
              <a:t> Relációs táblák + JSON dokumentumok miatt, mert a dinamikusan tárol</a:t>
            </a:r>
            <a:endParaRPr sz="1850">
              <a:solidFill>
                <a:srgbClr val="000000"/>
              </a:solidFill>
            </a:endParaRPr>
          </a:p>
          <a:p>
            <a:pPr indent="-3460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Char char="●"/>
            </a:pPr>
            <a:r>
              <a:rPr lang="hu" sz="1850">
                <a:solidFill>
                  <a:srgbClr val="000000"/>
                </a:solidFill>
              </a:rPr>
              <a:t>Verziókövetés: Git, GitHub</a:t>
            </a:r>
            <a:endParaRPr sz="1913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727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Technology Stack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17244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hu" sz="1400">
                <a:solidFill>
                  <a:srgbClr val="000000"/>
                </a:solidFill>
              </a:rPr>
              <a:t>A prisma szerepe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hu" sz="1200">
                <a:solidFill>
                  <a:srgbClr val="000000"/>
                </a:solidFill>
              </a:rPr>
              <a:t>A TypeScript kód és az adatbázis táblák közötti kényelmes mapping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hu" sz="1400">
                <a:solidFill>
                  <a:srgbClr val="000000"/>
                </a:solidFill>
              </a:rPr>
              <a:t>Miért így épül fel?</a:t>
            </a:r>
            <a:endParaRPr b="1" sz="14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hu" sz="1200">
                <a:solidFill>
                  <a:srgbClr val="000000"/>
                </a:solidFill>
              </a:rPr>
              <a:t>Statikus adatok</a:t>
            </a:r>
            <a:r>
              <a:rPr lang="hu" sz="1200">
                <a:solidFill>
                  <a:srgbClr val="000000"/>
                </a:solidFill>
              </a:rPr>
              <a:t> (koordináta, ID-k) → SQL oszlopok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hu" sz="1200">
                <a:solidFill>
                  <a:srgbClr val="000000"/>
                </a:solidFill>
              </a:rPr>
              <a:t>Dinamikus, AI‑generált adatok</a:t>
            </a:r>
            <a:r>
              <a:rPr lang="hu" sz="1200">
                <a:solidFill>
                  <a:srgbClr val="000000"/>
                </a:solidFill>
              </a:rPr>
              <a:t> (pl. varázstárgy extra tulajdonságai) → JSON mezők</a:t>
            </a:r>
            <a:endParaRPr sz="1400"/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Alapok és Adatbázis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JSON mezők előnyei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714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hu">
                <a:solidFill>
                  <a:srgbClr val="000000"/>
                </a:solidFill>
              </a:rPr>
              <a:t>Hibrid adattárolás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hu" sz="1100">
                <a:solidFill>
                  <a:srgbClr val="000000"/>
                </a:solidFill>
              </a:rPr>
              <a:t>Gyors lekérdezés a fix típusú mezőkön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Char char="●"/>
            </a:pPr>
            <a:r>
              <a:rPr lang="hu" sz="1100">
                <a:solidFill>
                  <a:srgbClr val="0D1117"/>
                </a:solidFill>
              </a:rPr>
              <a:t>Korlátlan kreativitás az AI‑generált tulajdonságoknál</a:t>
            </a:r>
            <a:endParaRPr sz="11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>
                <a:solidFill>
                  <a:srgbClr val="0D1117"/>
                </a:solidFill>
              </a:rPr>
              <a:t>a MySQL 8.0 támogatja a JSON-t, és a Prisma kiválóan le is fordítja ezt TypeScript típusokká</a:t>
            </a:r>
            <a:endParaRPr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>
                <a:solidFill>
                  <a:srgbClr val="0D1117"/>
                </a:solidFill>
              </a:rPr>
              <a:t>az alap adatok szigorúan típusos SQL oszlopok a gyors kereséshez, de az AI által kitalált dinamikus adatok JSON mezőbe mennek. Nem kell sémát módosítani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Tárgykezelés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941750" y="17530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hu">
                <a:solidFill>
                  <a:srgbClr val="000000"/>
                </a:solidFill>
              </a:rPr>
              <a:t>Tárgy a földön → </a:t>
            </a:r>
            <a:r>
              <a:rPr lang="hu">
                <a:solidFill>
                  <a:srgbClr val="188038"/>
                </a:solidFill>
              </a:rPr>
              <a:t>locationCellId</a:t>
            </a:r>
            <a:r>
              <a:rPr lang="hu">
                <a:solidFill>
                  <a:srgbClr val="000000"/>
                </a:solidFill>
              </a:rPr>
              <a:t> kitöltve</a:t>
            </a:r>
            <a:endParaRPr>
              <a:solidFill>
                <a:srgbClr val="18803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hu">
                <a:solidFill>
                  <a:srgbClr val="000000"/>
                </a:solidFill>
              </a:rPr>
              <a:t>Játékos felveszi → </a:t>
            </a:r>
            <a:r>
              <a:rPr lang="hu">
                <a:solidFill>
                  <a:srgbClr val="188038"/>
                </a:solidFill>
              </a:rPr>
              <a:t>locationCellId = NULL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hu">
                <a:solidFill>
                  <a:srgbClr val="000000"/>
                </a:solidFill>
              </a:rPr>
              <a:t>Nem kell külön leltár táblát építeni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500">
                <a:solidFill>
                  <a:srgbClr val="0D1117"/>
                </a:solidFill>
              </a:rPr>
              <a:t>Miért így építettük fel? </a:t>
            </a:r>
            <a:endParaRPr sz="1500">
              <a:solidFill>
                <a:srgbClr val="0D11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1500">
                <a:solidFill>
                  <a:srgbClr val="0D1117"/>
                </a:solidFill>
              </a:rPr>
              <a:t>Amikor a játékos azt mondja, hogy "Felveszem a kulcsot a földről", adatbázis szinten csak annyi történik, hogy a kulcs locationCellId-ját NULL-ra állítjuk</a:t>
            </a:r>
            <a:endParaRPr sz="15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@onDelete: Cascade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745675"/>
            <a:ext cx="7505700" cy="26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@onDelete: Cascade: Ha törlünk egy GameSession-t (pl. a játékos meghal és törli a mentést), a Prisma automatikusan kitörli az összes hozzá tartozó térképcellát, NPC-t és tárgyat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u"/>
              <a:t>térképcellák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u"/>
              <a:t>NPC-k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u"/>
              <a:t>tárgyak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Nincs adatbázis‑szemét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Nem kell manuális takarítással foglalkoznia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 Játék Logika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800200"/>
            <a:ext cx="75057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>
                <a:solidFill>
                  <a:srgbClr val="000000"/>
                </a:solidFill>
              </a:rPr>
              <a:t>Első fázisban m</a:t>
            </a:r>
            <a:r>
              <a:rPr lang="hu" sz="1200">
                <a:solidFill>
                  <a:srgbClr val="000000"/>
                </a:solidFill>
              </a:rPr>
              <a:t>ég nem volt bekötött AI komponensek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>
                <a:solidFill>
                  <a:srgbClr val="000000"/>
                </a:solidFill>
              </a:rPr>
              <a:t>Egyszerű webszerver létrehozás (</a:t>
            </a:r>
            <a:r>
              <a:rPr lang="hu" sz="1100">
                <a:solidFill>
                  <a:srgbClr val="000000"/>
                </a:solidFill>
              </a:rPr>
              <a:t>API endpoint</a:t>
            </a:r>
            <a:r>
              <a:rPr lang="hu" sz="1200">
                <a:solidFill>
                  <a:srgbClr val="000000"/>
                </a:solidFill>
              </a:rPr>
              <a:t>): fogadja a játékos parancsát, lekéri az adatbázisból a jelenlegi állapotot, és visszaad egy mock választ.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200">
                <a:solidFill>
                  <a:srgbClr val="000000"/>
                </a:solidFill>
              </a:rPr>
              <a:t>Játék tesztelése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hu" sz="1200">
                <a:solidFill>
                  <a:srgbClr val="000000"/>
                </a:solidFill>
              </a:rPr>
              <a:t>Adatbázis‑kommunikáció Prisma segítségével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hu" sz="1200">
                <a:solidFill>
                  <a:srgbClr val="000000"/>
                </a:solidFill>
              </a:rPr>
              <a:t>Játékállapot lekérése, módosítása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hu" sz="1200">
                <a:solidFill>
                  <a:srgbClr val="000000"/>
                </a:solidFill>
              </a:rPr>
              <a:t>Parancsok értelmezése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hu" sz="1200">
                <a:solidFill>
                  <a:srgbClr val="000000"/>
                </a:solidFill>
              </a:rPr>
              <a:t>AI integráció előkészítése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819150" y="1548800"/>
            <a:ext cx="7505700" cy="28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hu" sz="1700">
                <a:solidFill>
                  <a:srgbClr val="000000"/>
                </a:solidFill>
              </a:rPr>
              <a:t>GPT‑4o</a:t>
            </a:r>
            <a:endParaRPr b="1" sz="17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hu" sz="1500">
                <a:solidFill>
                  <a:srgbClr val="000000"/>
                </a:solidFill>
              </a:rPr>
              <a:t>A mock válasz helyére kerül be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hu" sz="1500">
                <a:solidFill>
                  <a:srgbClr val="000000"/>
                </a:solidFill>
              </a:rPr>
              <a:t>API kulcs beállítása → teljesen működő AI‑vezérelt játék backend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hu" sz="1500">
                <a:solidFill>
                  <a:srgbClr val="000000"/>
                </a:solidFill>
              </a:rPr>
              <a:t>Google Gemini</a:t>
            </a:r>
            <a:r>
              <a:rPr lang="hu" sz="1500">
                <a:solidFill>
                  <a:srgbClr val="000000"/>
                </a:solidFill>
              </a:rPr>
              <a:t> a kezdeti teszt fázisokban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AI Integráció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Köszönöm a figyelmet!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